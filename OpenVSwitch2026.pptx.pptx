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9" r:id="rId10"/>
    <p:sldId id="266" r:id="rId11"/>
    <p:sldId id="267" r:id="rId12"/>
  </p:sldIdLst>
  <p:sldSz cx="12192000" cy="6858000"/>
  <p:notesSz cx="6858000" cy="9144000"/>
  <p:embeddedFontLst>
    <p:embeddedFont>
      <p:font typeface="Libre Franklin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199bae78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199bae78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199bae78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199bae78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3c1f860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3c1f860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2199bae78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2199bae78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199bae78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199bae78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3ce9b8cf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3ce9b8cf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D83FC0A2-3276-7183-A9E7-59B36B84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3ce9b8cf6_0_30:notes">
            <a:extLst>
              <a:ext uri="{FF2B5EF4-FFF2-40B4-BE49-F238E27FC236}">
                <a16:creationId xmlns:a16="http://schemas.microsoft.com/office/drawing/2014/main" id="{1CA1036E-1EF3-072A-AF14-C42B76552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3ce9b8cf6_0_30:notes">
            <a:extLst>
              <a:ext uri="{FF2B5EF4-FFF2-40B4-BE49-F238E27FC236}">
                <a16:creationId xmlns:a16="http://schemas.microsoft.com/office/drawing/2014/main" id="{D1A75634-DE3E-3A51-D9C0-8D14B8132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8354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3c1f860fc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123c1f860f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3c1f860f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3c1f860fc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123c1f860fc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en-US"/>
              <a:t>Open VSwitch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2162"/>
              <a:buNone/>
            </a:pPr>
            <a:r>
              <a:rPr lang="en-US" dirty="0"/>
              <a:t>High Performance Network 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Meter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7376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switch element that can measure and control the rate of packets.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meter trigger a meter band if the packet rate or byte rate passing through the meter exceed a predefined threshold.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If the meter band drops the packet, it is called a </a:t>
            </a:r>
            <a:r>
              <a:rPr lang="en-US" b="1">
                <a:solidFill>
                  <a:srgbClr val="FF0000"/>
                </a:solidFill>
              </a:rPr>
              <a:t>Rate Limiter</a:t>
            </a:r>
            <a:r>
              <a:rPr lang="en-US"/>
              <a:t>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300" y="1782675"/>
            <a:ext cx="3797750" cy="37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Meter</a:t>
            </a:r>
            <a:endParaRPr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Add meter entry (set maximum rate with 30 kbps)</a:t>
            </a:r>
            <a:br>
              <a:rPr lang="en-US" dirty="0"/>
            </a:br>
            <a:r>
              <a:rPr lang="en-US" sz="2100" dirty="0" err="1"/>
              <a:t>sudo</a:t>
            </a:r>
            <a:r>
              <a:rPr lang="en-US" sz="2100" dirty="0"/>
              <a:t> </a:t>
            </a:r>
            <a:r>
              <a:rPr lang="en-US" sz="2100" dirty="0" err="1"/>
              <a:t>ovs-ofctl</a:t>
            </a:r>
            <a:r>
              <a:rPr lang="en-US" sz="2100" dirty="0"/>
              <a:t> add-meter </a:t>
            </a:r>
            <a:r>
              <a:rPr lang="en-US" sz="2100" b="1" dirty="0">
                <a:solidFill>
                  <a:srgbClr val="C00000"/>
                </a:solidFill>
              </a:rPr>
              <a:t>-O OpenFlow13</a:t>
            </a:r>
            <a:r>
              <a:rPr lang="en-US" sz="2100" dirty="0"/>
              <a:t> s1 meter=1,kbps,band=type=</a:t>
            </a:r>
            <a:r>
              <a:rPr lang="en-US" sz="2100" dirty="0" err="1"/>
              <a:t>drop,rate</a:t>
            </a:r>
            <a:r>
              <a:rPr lang="en-US" sz="2100" dirty="0"/>
              <a:t>=30000</a:t>
            </a:r>
            <a:endParaRPr sz="21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Add a flow entries with binding meter</a:t>
            </a: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ovs-ofctl</a:t>
            </a:r>
            <a:r>
              <a:rPr lang="en-US" dirty="0"/>
              <a:t> add-flow </a:t>
            </a:r>
            <a:r>
              <a:rPr lang="en-US" sz="2100" b="1" dirty="0">
                <a:solidFill>
                  <a:srgbClr val="C00000"/>
                </a:solidFill>
              </a:rPr>
              <a:t>-O OpenFlow13</a:t>
            </a:r>
            <a:r>
              <a:rPr lang="en-US" sz="2100" dirty="0"/>
              <a:t> </a:t>
            </a:r>
            <a:r>
              <a:rPr lang="en-US" dirty="0"/>
              <a:t>s1 </a:t>
            </a:r>
            <a:r>
              <a:rPr lang="en-US" dirty="0" err="1"/>
              <a:t>in_port</a:t>
            </a:r>
            <a:r>
              <a:rPr lang="en-US" dirty="0"/>
              <a:t>=1,actions=</a:t>
            </a:r>
            <a:r>
              <a:rPr lang="en-US" b="1" dirty="0">
                <a:solidFill>
                  <a:srgbClr val="FF0000"/>
                </a:solidFill>
              </a:rPr>
              <a:t>meter:1</a:t>
            </a:r>
            <a:r>
              <a:rPr lang="en-US" dirty="0"/>
              <a:t>,output:2</a:t>
            </a: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ovs-ofctl</a:t>
            </a:r>
            <a:r>
              <a:rPr lang="en-US" dirty="0"/>
              <a:t> add-flow </a:t>
            </a:r>
            <a:r>
              <a:rPr lang="en-US" sz="2100" b="1" dirty="0">
                <a:solidFill>
                  <a:srgbClr val="C00000"/>
                </a:solidFill>
              </a:rPr>
              <a:t>-O OpenFlow13</a:t>
            </a:r>
            <a:r>
              <a:rPr lang="en-US" sz="2100" dirty="0"/>
              <a:t> </a:t>
            </a:r>
            <a:r>
              <a:rPr lang="en-US" dirty="0"/>
              <a:t>s1 </a:t>
            </a:r>
            <a:r>
              <a:rPr lang="en-US" dirty="0" err="1"/>
              <a:t>in_port</a:t>
            </a:r>
            <a:r>
              <a:rPr lang="en-US" dirty="0"/>
              <a:t>=2,actions=</a:t>
            </a:r>
            <a:r>
              <a:rPr lang="en-US" b="1" dirty="0">
                <a:solidFill>
                  <a:srgbClr val="FF0000"/>
                </a:solidFill>
              </a:rPr>
              <a:t>meter:1</a:t>
            </a:r>
            <a:r>
              <a:rPr lang="en-US" dirty="0"/>
              <a:t>,output:1</a:t>
            </a:r>
            <a:endParaRPr dirty="0"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6975" y="4069014"/>
            <a:ext cx="1016317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Meter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150" y="193642"/>
            <a:ext cx="8696325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00" y="4337992"/>
            <a:ext cx="6434135" cy="232095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3816225" y="895750"/>
            <a:ext cx="6251400" cy="326700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436933" y="4814600"/>
            <a:ext cx="3620400" cy="326700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Groups represent sets of actions for flooding, as well as more complex forwarding semantics (e.g. multipath, fast reroute, and link aggregation). 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As a general layer of indirection, groups also enable multiple flow entries to forward to a single identifier (e.g. IP forwarding to a common next hop). 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This abstraction allows common output actions across flow entries to be changed efficiently.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91" name="Google Shape;91;p18"/>
          <p:cNvGrpSpPr/>
          <p:nvPr/>
        </p:nvGrpSpPr>
        <p:grpSpPr>
          <a:xfrm>
            <a:off x="3774311" y="4057782"/>
            <a:ext cx="4643284" cy="2572550"/>
            <a:chOff x="2998548" y="4190632"/>
            <a:chExt cx="4643284" cy="2572550"/>
          </a:xfrm>
        </p:grpSpPr>
        <p:cxnSp>
          <p:nvCxnSpPr>
            <p:cNvPr id="92" name="Google Shape;92;p18"/>
            <p:cNvCxnSpPr/>
            <p:nvPr/>
          </p:nvCxnSpPr>
          <p:spPr>
            <a:xfrm>
              <a:off x="3614363" y="5561490"/>
              <a:ext cx="1971600" cy="0"/>
            </a:xfrm>
            <a:prstGeom prst="straightConnector1">
              <a:avLst/>
            </a:prstGeom>
            <a:noFill/>
            <a:ln w="571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8"/>
            <p:cNvCxnSpPr/>
            <p:nvPr/>
          </p:nvCxnSpPr>
          <p:spPr>
            <a:xfrm rot="10800000" flipH="1">
              <a:off x="5397413" y="4527765"/>
              <a:ext cx="1617000" cy="933600"/>
            </a:xfrm>
            <a:prstGeom prst="straightConnector1">
              <a:avLst/>
            </a:prstGeom>
            <a:noFill/>
            <a:ln w="571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94" name="Google Shape;94;p18" descr="Computer, desktop computer, device, gadget, imac, monitor, pc ic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78333" y="4190632"/>
              <a:ext cx="763500" cy="76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8" descr="Computer, desktop computer, device, gadget, imac, monitor, pc ic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98548" y="5193707"/>
              <a:ext cx="694851" cy="694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8"/>
            <p:cNvSpPr txBox="1"/>
            <p:nvPr/>
          </p:nvSpPr>
          <p:spPr>
            <a:xfrm>
              <a:off x="4579440" y="5845235"/>
              <a:ext cx="88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OVS</a:t>
              </a:r>
              <a:endPara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cxnSp>
          <p:nvCxnSpPr>
            <p:cNvPr id="97" name="Google Shape;97;p18"/>
            <p:cNvCxnSpPr/>
            <p:nvPr/>
          </p:nvCxnSpPr>
          <p:spPr>
            <a:xfrm>
              <a:off x="5408513" y="5661615"/>
              <a:ext cx="1602900" cy="736500"/>
            </a:xfrm>
            <a:prstGeom prst="straightConnector1">
              <a:avLst/>
            </a:prstGeom>
            <a:noFill/>
            <a:ln w="571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8"/>
            <p:cNvCxnSpPr/>
            <p:nvPr/>
          </p:nvCxnSpPr>
          <p:spPr>
            <a:xfrm>
              <a:off x="5457813" y="5507678"/>
              <a:ext cx="1614900" cy="7500"/>
            </a:xfrm>
            <a:prstGeom prst="straightConnector1">
              <a:avLst/>
            </a:prstGeom>
            <a:noFill/>
            <a:ln w="571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99" name="Google Shape;99;p18" descr="Equipment, ethernet, network, office, switch icon"/>
            <p:cNvPicPr preferRelativeResize="0"/>
            <p:nvPr/>
          </p:nvPicPr>
          <p:blipFill rotWithShape="1">
            <a:blip r:embed="rId4">
              <a:alphaModFix/>
            </a:blip>
            <a:srcRect t="20078" b="19571"/>
            <a:stretch/>
          </p:blipFill>
          <p:spPr>
            <a:xfrm>
              <a:off x="4248704" y="4954124"/>
              <a:ext cx="1548305" cy="934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8" descr="Computer, desktop computer, device, gadget, imac, monitor, pc ic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78333" y="5129682"/>
              <a:ext cx="763500" cy="76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8" descr="Computer, desktop computer, device, gadget, imac, monitor, pc ic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78333" y="5999682"/>
              <a:ext cx="763500" cy="76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8"/>
            <p:cNvSpPr/>
            <p:nvPr/>
          </p:nvSpPr>
          <p:spPr>
            <a:xfrm>
              <a:off x="3853450" y="5193700"/>
              <a:ext cx="235200" cy="2658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6088325" y="4580475"/>
              <a:ext cx="235200" cy="2658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6352300" y="5193700"/>
              <a:ext cx="235200" cy="2658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6352300" y="5784850"/>
              <a:ext cx="235200" cy="2658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6" name="Google Shape;106;p18"/>
          <p:cNvCxnSpPr/>
          <p:nvPr/>
        </p:nvCxnSpPr>
        <p:spPr>
          <a:xfrm>
            <a:off x="3553900" y="6630325"/>
            <a:ext cx="5084100" cy="12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</a:t>
            </a: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Add group entry: </a:t>
            </a:r>
            <a:br>
              <a:rPr lang="en-US" dirty="0"/>
            </a:br>
            <a:r>
              <a:rPr lang="en-US" sz="2000" dirty="0" err="1"/>
              <a:t>sudo</a:t>
            </a:r>
            <a:r>
              <a:rPr lang="en-US" sz="2000" dirty="0"/>
              <a:t> </a:t>
            </a:r>
            <a:r>
              <a:rPr lang="en-US" sz="2000" dirty="0" err="1"/>
              <a:t>ovs-ofctl</a:t>
            </a:r>
            <a:r>
              <a:rPr lang="en-US" sz="2000" dirty="0"/>
              <a:t> add-group s1 </a:t>
            </a:r>
            <a:r>
              <a:rPr lang="en-US" sz="2000" dirty="0" err="1"/>
              <a:t>group_id</a:t>
            </a:r>
            <a:r>
              <a:rPr lang="en-US" sz="2000" dirty="0"/>
              <a:t>=1,type=</a:t>
            </a:r>
            <a:r>
              <a:rPr lang="en-US" sz="2000" dirty="0" err="1"/>
              <a:t>all,bucket</a:t>
            </a:r>
            <a:r>
              <a:rPr lang="en-US" sz="2000" dirty="0"/>
              <a:t>=</a:t>
            </a:r>
            <a:r>
              <a:rPr lang="en-US" sz="2000" dirty="0" err="1"/>
              <a:t>mod_dl_src</a:t>
            </a:r>
            <a:r>
              <a:rPr lang="en-US" sz="2000" dirty="0"/>
              <a:t>=00:00:00:11:11:11,mod_dl_dst=00:00:00:22:22:22,output:2,bucket=</a:t>
            </a:r>
            <a:r>
              <a:rPr lang="en-US" sz="2000" dirty="0" err="1"/>
              <a:t>mod_dl_src</a:t>
            </a:r>
            <a:r>
              <a:rPr lang="en-US" sz="2000" dirty="0"/>
              <a:t>=00:00:00:11:11:11,mod_dl_dst=00:00:00:22:22:22,output:3,bucket=</a:t>
            </a:r>
            <a:r>
              <a:rPr lang="en-US" sz="2000" dirty="0" err="1"/>
              <a:t>mod_dl_src</a:t>
            </a:r>
            <a:r>
              <a:rPr lang="en-US" sz="2000" dirty="0"/>
              <a:t>=00:00:00:11:11:11,mod_dl_dst=00:00:00:22:22:22,output:4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Add flow entry with using group action:</a:t>
            </a: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ovs-ofctl</a:t>
            </a:r>
            <a:r>
              <a:rPr lang="en-US" dirty="0"/>
              <a:t> add-flow s1 </a:t>
            </a:r>
            <a:r>
              <a:rPr lang="en-US" dirty="0" err="1"/>
              <a:t>in_port</a:t>
            </a:r>
            <a:r>
              <a:rPr lang="en-US" dirty="0"/>
              <a:t>=1,actions=group:1</a:t>
            </a:r>
            <a:br>
              <a:rPr lang="en-US" dirty="0"/>
            </a:br>
            <a:endParaRPr dirty="0"/>
          </a:p>
        </p:txBody>
      </p:sp>
      <p:grpSp>
        <p:nvGrpSpPr>
          <p:cNvPr id="113" name="Google Shape;113;p19"/>
          <p:cNvGrpSpPr/>
          <p:nvPr/>
        </p:nvGrpSpPr>
        <p:grpSpPr>
          <a:xfrm>
            <a:off x="3892518" y="4343823"/>
            <a:ext cx="4267594" cy="2169717"/>
            <a:chOff x="3553900" y="4057782"/>
            <a:chExt cx="5084100" cy="2584843"/>
          </a:xfrm>
        </p:grpSpPr>
        <p:grpSp>
          <p:nvGrpSpPr>
            <p:cNvPr id="114" name="Google Shape;114;p19"/>
            <p:cNvGrpSpPr/>
            <p:nvPr/>
          </p:nvGrpSpPr>
          <p:grpSpPr>
            <a:xfrm>
              <a:off x="3774311" y="4057782"/>
              <a:ext cx="4643284" cy="2572550"/>
              <a:chOff x="2998548" y="4190632"/>
              <a:chExt cx="4643284" cy="2572550"/>
            </a:xfrm>
          </p:grpSpPr>
          <p:cxnSp>
            <p:nvCxnSpPr>
              <p:cNvPr id="115" name="Google Shape;115;p19"/>
              <p:cNvCxnSpPr/>
              <p:nvPr/>
            </p:nvCxnSpPr>
            <p:spPr>
              <a:xfrm>
                <a:off x="3614363" y="5561490"/>
                <a:ext cx="1971600" cy="0"/>
              </a:xfrm>
              <a:prstGeom prst="straightConnector1">
                <a:avLst/>
              </a:prstGeom>
              <a:noFill/>
              <a:ln w="571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19"/>
              <p:cNvCxnSpPr/>
              <p:nvPr/>
            </p:nvCxnSpPr>
            <p:spPr>
              <a:xfrm rot="10800000" flipH="1">
                <a:off x="5397413" y="4527765"/>
                <a:ext cx="1617000" cy="933600"/>
              </a:xfrm>
              <a:prstGeom prst="straightConnector1">
                <a:avLst/>
              </a:prstGeom>
              <a:noFill/>
              <a:ln w="571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117" name="Google Shape;117;p19" descr="Computer, desktop computer, device, gadget, imac, monitor, pc icon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878333" y="4190632"/>
                <a:ext cx="763500" cy="76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9" descr="Computer, desktop computer, device, gadget, imac, monitor, pc icon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548" y="5193707"/>
                <a:ext cx="694851" cy="694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19"/>
              <p:cNvSpPr txBox="1"/>
              <p:nvPr/>
            </p:nvSpPr>
            <p:spPr>
              <a:xfrm>
                <a:off x="4579440" y="5845235"/>
                <a:ext cx="8868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FFF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OVS</a:t>
                </a:r>
                <a:endParaRPr sz="1800">
                  <a:solidFill>
                    <a:srgbClr val="FFFFFF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cxnSp>
            <p:nvCxnSpPr>
              <p:cNvPr id="120" name="Google Shape;120;p19"/>
              <p:cNvCxnSpPr/>
              <p:nvPr/>
            </p:nvCxnSpPr>
            <p:spPr>
              <a:xfrm>
                <a:off x="5408513" y="5661615"/>
                <a:ext cx="1602900" cy="736500"/>
              </a:xfrm>
              <a:prstGeom prst="straightConnector1">
                <a:avLst/>
              </a:prstGeom>
              <a:noFill/>
              <a:ln w="571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19"/>
              <p:cNvCxnSpPr/>
              <p:nvPr/>
            </p:nvCxnSpPr>
            <p:spPr>
              <a:xfrm>
                <a:off x="5457813" y="5507678"/>
                <a:ext cx="1614900" cy="7500"/>
              </a:xfrm>
              <a:prstGeom prst="straightConnector1">
                <a:avLst/>
              </a:prstGeom>
              <a:noFill/>
              <a:ln w="571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122" name="Google Shape;122;p19" descr="Equipment, ethernet, network, office, switch icon"/>
              <p:cNvPicPr preferRelativeResize="0"/>
              <p:nvPr/>
            </p:nvPicPr>
            <p:blipFill rotWithShape="1">
              <a:blip r:embed="rId4">
                <a:alphaModFix/>
              </a:blip>
              <a:srcRect t="20078" b="19571"/>
              <a:stretch/>
            </p:blipFill>
            <p:spPr>
              <a:xfrm>
                <a:off x="4248704" y="4954124"/>
                <a:ext cx="1548305" cy="9344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Google Shape;123;p19" descr="Computer, desktop computer, device, gadget, imac, monitor, pc icon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878333" y="5129682"/>
                <a:ext cx="763500" cy="76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19" descr="Computer, desktop computer, device, gadget, imac, monitor, pc icon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878333" y="5999682"/>
                <a:ext cx="763500" cy="76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" name="Google Shape;125;p19"/>
              <p:cNvSpPr/>
              <p:nvPr/>
            </p:nvSpPr>
            <p:spPr>
              <a:xfrm>
                <a:off x="3853450" y="5193700"/>
                <a:ext cx="235200" cy="265800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9"/>
              <p:cNvSpPr/>
              <p:nvPr/>
            </p:nvSpPr>
            <p:spPr>
              <a:xfrm>
                <a:off x="6088325" y="4580475"/>
                <a:ext cx="235200" cy="265800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>
                <a:off x="6352300" y="5193700"/>
                <a:ext cx="235200" cy="265800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9"/>
              <p:cNvSpPr/>
              <p:nvPr/>
            </p:nvSpPr>
            <p:spPr>
              <a:xfrm>
                <a:off x="6352300" y="5784850"/>
                <a:ext cx="235200" cy="265800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9" name="Google Shape;129;p19"/>
            <p:cNvCxnSpPr/>
            <p:nvPr/>
          </p:nvCxnSpPr>
          <p:spPr>
            <a:xfrm>
              <a:off x="3553900" y="6630325"/>
              <a:ext cx="5084100" cy="123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Experiment: </a:t>
            </a:r>
            <a:r>
              <a:rPr lang="en-US" altLang="zh-TW" dirty="0"/>
              <a:t>Meter demo</a:t>
            </a:r>
            <a:endParaRPr dirty="0"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4048" lvl="0" indent="-3840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Goal: 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 err="1"/>
              <a:t>編寫交換機路由規則，讓封包</a:t>
            </a:r>
            <a:r>
              <a:rPr lang="zh-TW" altLang="en-US" dirty="0"/>
              <a:t>傳輸速率受限</a:t>
            </a:r>
            <a:r>
              <a:rPr lang="en-US" altLang="zh-TW" dirty="0"/>
              <a:t>10Mbps</a:t>
            </a:r>
            <a:r>
              <a:rPr lang="en-US" dirty="0"/>
              <a:t>。</a:t>
            </a:r>
            <a:endParaRPr dirty="0"/>
          </a:p>
          <a:p>
            <a:pPr marL="6096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dirty="0"/>
          </a:p>
          <a:p>
            <a:pPr marL="6096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 err="1"/>
              <a:t>測試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 err="1"/>
              <a:t>使用指令sudo</a:t>
            </a:r>
            <a:r>
              <a:rPr lang="en-US" dirty="0"/>
              <a:t> python3 ./Lab2.py啟動Mininet測試環境</a:t>
            </a:r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altLang="en-US" dirty="0"/>
              <a:t>編寫交換機路由規則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 err="1"/>
              <a:t>使用xterm</a:t>
            </a:r>
            <a:r>
              <a:rPr lang="en-US" dirty="0"/>
              <a:t> </a:t>
            </a:r>
            <a:r>
              <a:rPr lang="en-US" altLang="zh-TW" dirty="0"/>
              <a:t>H1</a:t>
            </a:r>
            <a:r>
              <a:rPr lang="zh-TW" altLang="en-US" dirty="0"/>
              <a:t> </a:t>
            </a:r>
            <a:r>
              <a:rPr lang="en-US" altLang="zh-TW" dirty="0"/>
              <a:t>H2</a:t>
            </a:r>
            <a:r>
              <a:rPr lang="en-US" dirty="0"/>
              <a:t>打開H1, H2之終端機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altLang="en-US" dirty="0"/>
              <a:t>執行</a:t>
            </a:r>
            <a:r>
              <a:rPr lang="en-US" altLang="zh-TW" dirty="0" err="1"/>
              <a:t>iperf</a:t>
            </a:r>
            <a:r>
              <a:rPr lang="zh-TW" altLang="en-US" dirty="0"/>
              <a:t>測試，紀錄未受限速之結果</a:t>
            </a:r>
            <a:endParaRPr lang="en-US" altLang="zh-TW"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altLang="en-US" dirty="0"/>
              <a:t>加入</a:t>
            </a:r>
            <a:r>
              <a:rPr lang="en-US" altLang="zh-TW" dirty="0"/>
              <a:t>Meter</a:t>
            </a:r>
            <a:r>
              <a:rPr lang="zh-TW" altLang="en-US" dirty="0"/>
              <a:t>規則，並再次執行</a:t>
            </a:r>
            <a:r>
              <a:rPr lang="en-US" altLang="zh-TW" dirty="0" err="1"/>
              <a:t>iperf</a:t>
            </a:r>
            <a:r>
              <a:rPr lang="zh-TW" altLang="en-US" dirty="0"/>
              <a:t>測試</a:t>
            </a:r>
            <a:endParaRPr lang="en-US" altLang="zh-TW"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 err="1"/>
              <a:t>把記錄內容擷圖表示即可</a:t>
            </a:r>
            <a:r>
              <a:rPr lang="en-US" dirty="0"/>
              <a:t>。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BE74A5-F518-4321-AD2B-A3C7DD95D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102" y="4820593"/>
            <a:ext cx="8579796" cy="190504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2AD7102-9F35-87CA-3589-F518FC6A4F08}"/>
              </a:ext>
            </a:extLst>
          </p:cNvPr>
          <p:cNvSpPr/>
          <p:nvPr/>
        </p:nvSpPr>
        <p:spPr>
          <a:xfrm>
            <a:off x="2189950" y="4917782"/>
            <a:ext cx="69924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4385AD-1B02-43C3-1C70-5AB5988B5646}"/>
              </a:ext>
            </a:extLst>
          </p:cNvPr>
          <p:cNvSpPr/>
          <p:nvPr/>
        </p:nvSpPr>
        <p:spPr>
          <a:xfrm>
            <a:off x="8520313" y="4917782"/>
            <a:ext cx="69924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8201947-FED0-4363-968A-F6E5A9050FE8}"/>
              </a:ext>
            </a:extLst>
          </p:cNvPr>
          <p:cNvSpPr txBox="1"/>
          <p:nvPr/>
        </p:nvSpPr>
        <p:spPr>
          <a:xfrm>
            <a:off x="2097563" y="4817640"/>
            <a:ext cx="138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10.0.0.10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FBB99D-D6EA-BB97-6987-DD9EA78F6E55}"/>
              </a:ext>
            </a:extLst>
          </p:cNvPr>
          <p:cNvSpPr txBox="1"/>
          <p:nvPr/>
        </p:nvSpPr>
        <p:spPr>
          <a:xfrm>
            <a:off x="8397190" y="4809956"/>
            <a:ext cx="138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10.0.0.11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62D82716-EF19-2F27-D8BE-566993A6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>
            <a:extLst>
              <a:ext uri="{FF2B5EF4-FFF2-40B4-BE49-F238E27FC236}">
                <a16:creationId xmlns:a16="http://schemas.microsoft.com/office/drawing/2014/main" id="{43E09C01-335E-903A-13EF-427FA3BFF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Experiment: </a:t>
            </a:r>
            <a:r>
              <a:rPr lang="en-US" altLang="zh-TW" dirty="0"/>
              <a:t>Learn MAC Address</a:t>
            </a:r>
            <a:endParaRPr dirty="0"/>
          </a:p>
        </p:txBody>
      </p:sp>
      <p:sp>
        <p:nvSpPr>
          <p:cNvPr id="156" name="Google Shape;156;p22">
            <a:extLst>
              <a:ext uri="{FF2B5EF4-FFF2-40B4-BE49-F238E27FC236}">
                <a16:creationId xmlns:a16="http://schemas.microsoft.com/office/drawing/2014/main" id="{40ADD7C2-8BCE-269D-BC78-BC77F1F5F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4048" lvl="0" indent="-3840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Goal: 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編寫controller程式碼，controller可以學到h1 h2的mac address。</a:t>
            </a:r>
            <a:endParaRPr dirty="0"/>
          </a:p>
          <a:p>
            <a:pPr marL="6096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dirty="0"/>
          </a:p>
          <a:p>
            <a:pPr marL="6096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 err="1"/>
              <a:t>測試</a:t>
            </a:r>
            <a:endParaRPr dirty="0"/>
          </a:p>
          <a:p>
            <a:pPr marL="1219200" lvl="1" indent="-425450">
              <a:lnSpc>
                <a:spcPct val="100000"/>
              </a:lnSpc>
            </a:pPr>
            <a:r>
              <a:rPr lang="en-US" dirty="0" err="1"/>
              <a:t>安裝ryu</a:t>
            </a:r>
            <a:r>
              <a:rPr lang="en-US" dirty="0"/>
              <a:t> </a:t>
            </a:r>
            <a:r>
              <a:rPr lang="en-US" dirty="0" err="1"/>
              <a:t>用指令sudo</a:t>
            </a:r>
            <a:r>
              <a:rPr lang="en-US" dirty="0"/>
              <a:t> apt install python3-ryu</a:t>
            </a:r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altLang="en-US" dirty="0"/>
              <a:t>編寫</a:t>
            </a:r>
            <a:r>
              <a:rPr lang="en-US" altLang="zh-TW" dirty="0"/>
              <a:t>simple_switch_demo.py learn mac </a:t>
            </a:r>
            <a:r>
              <a:rPr lang="en-US" altLang="zh-TW" dirty="0" err="1"/>
              <a:t>addres部分</a:t>
            </a:r>
            <a:endParaRPr lang="en-US" altLang="zh-TW" dirty="0"/>
          </a:p>
          <a:p>
            <a:pPr marL="1219200" lvl="1" indent="-425450">
              <a:lnSpc>
                <a:spcPct val="100000"/>
              </a:lnSpc>
            </a:pPr>
            <a:r>
              <a:rPr lang="en-US" dirty="0" err="1"/>
              <a:t>先執行</a:t>
            </a:r>
            <a:r>
              <a:rPr lang="en-US" altLang="zh-TW" dirty="0"/>
              <a:t> </a:t>
            </a:r>
            <a:r>
              <a:rPr lang="en-US" altLang="zh-TW" dirty="0" err="1"/>
              <a:t>sudo</a:t>
            </a:r>
            <a:r>
              <a:rPr lang="en-US" altLang="zh-TW" dirty="0"/>
              <a:t> python3 ./Lab2.py啟動Mininet測試環境</a:t>
            </a:r>
          </a:p>
          <a:p>
            <a:pPr marL="1219200" lvl="1" indent="-425450">
              <a:lnSpc>
                <a:spcPct val="100000"/>
              </a:lnSpc>
            </a:pPr>
            <a:r>
              <a:rPr lang="en-US" dirty="0" err="1"/>
              <a:t>再執行</a:t>
            </a:r>
            <a:r>
              <a:rPr lang="zh-TW" altLang="en-US" dirty="0"/>
              <a:t> </a:t>
            </a:r>
            <a:r>
              <a:rPr lang="en-US" altLang="zh-TW" dirty="0" err="1"/>
              <a:t>ryu</a:t>
            </a:r>
            <a:r>
              <a:rPr lang="en-US" altLang="zh-TW" dirty="0"/>
              <a:t>-manager simple_switch_demo.py </a:t>
            </a:r>
          </a:p>
          <a:p>
            <a:pPr marL="1219200" lvl="1" indent="-425450">
              <a:lnSpc>
                <a:spcPct val="100000"/>
              </a:lnSpc>
            </a:pPr>
            <a:r>
              <a:rPr lang="en-US" dirty="0"/>
              <a:t>Ping 通</a:t>
            </a:r>
            <a:r>
              <a:rPr lang="zh-TW" altLang="en-US" dirty="0"/>
              <a:t> </a:t>
            </a:r>
            <a:r>
              <a:rPr lang="en-US" altLang="zh-TW"/>
              <a:t>h1及h2</a:t>
            </a:r>
            <a:endParaRPr dirty="0"/>
          </a:p>
          <a:p>
            <a:pPr marL="12192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dirty="0" err="1"/>
              <a:t>把記錄內容擷圖表示即可</a:t>
            </a:r>
            <a:r>
              <a:rPr lang="en-US" dirty="0"/>
              <a:t>。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7DCDEA-13DC-6590-77BB-C2360B15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102" y="4820593"/>
            <a:ext cx="8579796" cy="190504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1380867-CFF5-20C8-0D96-CECC195DD47F}"/>
              </a:ext>
            </a:extLst>
          </p:cNvPr>
          <p:cNvSpPr/>
          <p:nvPr/>
        </p:nvSpPr>
        <p:spPr>
          <a:xfrm>
            <a:off x="2189950" y="4917782"/>
            <a:ext cx="69924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19839F-D1D3-66C7-A0BD-115E75959468}"/>
              </a:ext>
            </a:extLst>
          </p:cNvPr>
          <p:cNvSpPr/>
          <p:nvPr/>
        </p:nvSpPr>
        <p:spPr>
          <a:xfrm>
            <a:off x="8520313" y="4917782"/>
            <a:ext cx="69924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0F21346-2D29-497C-D60F-BC636332EBBF}"/>
              </a:ext>
            </a:extLst>
          </p:cNvPr>
          <p:cNvSpPr txBox="1"/>
          <p:nvPr/>
        </p:nvSpPr>
        <p:spPr>
          <a:xfrm>
            <a:off x="2097563" y="4817640"/>
            <a:ext cx="138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10.0.0.10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C73D26-54F3-13A5-331F-FA0A0B73F420}"/>
              </a:ext>
            </a:extLst>
          </p:cNvPr>
          <p:cNvSpPr txBox="1"/>
          <p:nvPr/>
        </p:nvSpPr>
        <p:spPr>
          <a:xfrm>
            <a:off x="8397190" y="4809956"/>
            <a:ext cx="138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10.0.0.11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42E9F-84CD-63B0-1BE6-5EA682511F81}"/>
              </a:ext>
            </a:extLst>
          </p:cNvPr>
          <p:cNvSpPr/>
          <p:nvPr/>
        </p:nvSpPr>
        <p:spPr>
          <a:xfrm>
            <a:off x="2189950" y="4917782"/>
            <a:ext cx="102376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C94746-98BC-EBB0-0A1A-BF6CFF15E6AA}"/>
              </a:ext>
            </a:extLst>
          </p:cNvPr>
          <p:cNvSpPr/>
          <p:nvPr/>
        </p:nvSpPr>
        <p:spPr>
          <a:xfrm>
            <a:off x="2377313" y="5122112"/>
            <a:ext cx="1591005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80F750-66C5-1351-5A3B-028382B8D27A}"/>
              </a:ext>
            </a:extLst>
          </p:cNvPr>
          <p:cNvSpPr/>
          <p:nvPr/>
        </p:nvSpPr>
        <p:spPr>
          <a:xfrm>
            <a:off x="8694592" y="5150159"/>
            <a:ext cx="1591005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42EE68-54F0-D8EF-B601-37AF07CBB4C0}"/>
              </a:ext>
            </a:extLst>
          </p:cNvPr>
          <p:cNvSpPr/>
          <p:nvPr/>
        </p:nvSpPr>
        <p:spPr>
          <a:xfrm>
            <a:off x="8508989" y="4917782"/>
            <a:ext cx="1023767" cy="169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42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368D5-35C5-499E-86BA-D8D3111B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Controller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9300DF-17E0-4CEC-8380-6B0B3213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4" y="1969535"/>
            <a:ext cx="11141312" cy="3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Homework - IPv4 Routing with Meter Rate limiter</a:t>
            </a:r>
            <a:endParaRPr/>
          </a:p>
        </p:txBody>
      </p:sp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451338" y="4207650"/>
            <a:ext cx="9289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使用OpenVSwitch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指令對以下三條連線加入路由規則，並使用Meter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限定流量</a:t>
            </a:r>
            <a:r>
              <a:rPr lang="en-US" sz="1800" dirty="0">
                <a:solidFill>
                  <a:schemeClr val="dk1"/>
                </a:solidFill>
              </a:rPr>
              <a:t>。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使用sudo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ovs-ofctl</a:t>
            </a:r>
            <a:r>
              <a:rPr lang="en-US" sz="1800" dirty="0">
                <a:solidFill>
                  <a:schemeClr val="dk1"/>
                </a:solidFill>
              </a:rPr>
              <a:t> dump-flows &lt;</a:t>
            </a:r>
            <a:r>
              <a:rPr lang="en-US" sz="1800" dirty="0" err="1">
                <a:solidFill>
                  <a:schemeClr val="dk1"/>
                </a:solidFill>
              </a:rPr>
              <a:t>bridge_id</a:t>
            </a:r>
            <a:r>
              <a:rPr lang="en-US" sz="1800" dirty="0">
                <a:solidFill>
                  <a:schemeClr val="dk1"/>
                </a:solidFill>
              </a:rPr>
              <a:t>&gt;</a:t>
            </a:r>
            <a:r>
              <a:rPr lang="en-US" sz="1800" dirty="0" err="1">
                <a:solidFill>
                  <a:schemeClr val="dk1"/>
                </a:solidFill>
              </a:rPr>
              <a:t>把每一台交換機上的的規則印出並擷圖</a:t>
            </a:r>
            <a:r>
              <a:rPr lang="en-US" sz="1800" dirty="0">
                <a:solidFill>
                  <a:schemeClr val="dk1"/>
                </a:solidFill>
              </a:rPr>
              <a:t>。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要求</a:t>
            </a:r>
            <a:r>
              <a:rPr lang="en-US" sz="1800" dirty="0">
                <a:solidFill>
                  <a:schemeClr val="dk1"/>
                </a:solidFill>
              </a:rPr>
              <a:t>： 使用IPv4 </a:t>
            </a:r>
            <a:r>
              <a:rPr lang="en-US" sz="1800" dirty="0" err="1">
                <a:solidFill>
                  <a:schemeClr val="dk1"/>
                </a:solidFill>
              </a:rPr>
              <a:t>位址及UDP</a:t>
            </a:r>
            <a:r>
              <a:rPr lang="en-US" sz="1800" dirty="0">
                <a:solidFill>
                  <a:schemeClr val="dk1"/>
                </a:solidFill>
              </a:rPr>
              <a:t> Port </a:t>
            </a:r>
            <a:r>
              <a:rPr lang="en-US" sz="1800" dirty="0" err="1">
                <a:solidFill>
                  <a:schemeClr val="dk1"/>
                </a:solidFill>
              </a:rPr>
              <a:t>ID進行路由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altLang="en-US" sz="1800" dirty="0">
                <a:solidFill>
                  <a:schemeClr val="dk1"/>
                </a:solidFill>
              </a:rPr>
              <a:t>路線及使用的</a:t>
            </a:r>
            <a:r>
              <a:rPr lang="en-US" sz="1800" dirty="0">
                <a:solidFill>
                  <a:schemeClr val="dk1"/>
                </a:solidFill>
              </a:rPr>
              <a:t>UDP Port</a:t>
            </a:r>
            <a:endParaRPr lang="en-US" sz="17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Char char="○"/>
            </a:pPr>
            <a:r>
              <a:rPr lang="en-US" sz="1800" dirty="0" err="1">
                <a:solidFill>
                  <a:srgbClr val="C00000"/>
                </a:solidFill>
                <a:highlight>
                  <a:schemeClr val="dk1"/>
                </a:highlight>
              </a:rPr>
              <a:t>紅色</a:t>
            </a:r>
            <a:r>
              <a:rPr lang="en-US" sz="1800" dirty="0">
                <a:solidFill>
                  <a:srgbClr val="C00000"/>
                </a:solidFill>
                <a:highlight>
                  <a:schemeClr val="dk1"/>
                </a:highlight>
              </a:rPr>
              <a:t>： UDP Port ID 50001，meter id = 1, drop, max bandwidth: 50Mbps</a:t>
            </a:r>
            <a:endParaRPr sz="1800" dirty="0">
              <a:solidFill>
                <a:srgbClr val="C00000"/>
              </a:solidFill>
              <a:highlight>
                <a:schemeClr val="dk1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○"/>
            </a:pPr>
            <a:r>
              <a:rPr lang="en-US" sz="1800" dirty="0" err="1">
                <a:solidFill>
                  <a:srgbClr val="9900FF"/>
                </a:solidFill>
                <a:highlight>
                  <a:schemeClr val="dk1"/>
                </a:highlight>
              </a:rPr>
              <a:t>藍色</a:t>
            </a:r>
            <a:r>
              <a:rPr lang="en-US" sz="1800" dirty="0">
                <a:solidFill>
                  <a:srgbClr val="9900FF"/>
                </a:solidFill>
                <a:highlight>
                  <a:schemeClr val="dk1"/>
                </a:highlight>
              </a:rPr>
              <a:t>： UDP Port ID 50002，meter id = 2, drop, max bandwidth: 20Mbps</a:t>
            </a:r>
            <a:endParaRPr sz="1800" dirty="0">
              <a:solidFill>
                <a:srgbClr val="9900FF"/>
              </a:solidFill>
              <a:highlight>
                <a:schemeClr val="dk1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</a:pPr>
            <a:r>
              <a:rPr lang="en-US" sz="1800" dirty="0" err="1">
                <a:solidFill>
                  <a:srgbClr val="38761D"/>
                </a:solidFill>
                <a:highlight>
                  <a:schemeClr val="dk1"/>
                </a:highlight>
              </a:rPr>
              <a:t>綠色</a:t>
            </a:r>
            <a:r>
              <a:rPr lang="en-US" sz="1800" dirty="0">
                <a:solidFill>
                  <a:srgbClr val="38761D"/>
                </a:solidFill>
                <a:highlight>
                  <a:schemeClr val="dk1"/>
                </a:highlight>
              </a:rPr>
              <a:t>： UDP Port ID 50003，meter id = 3, drop, max bandwidth: 30Mbps</a:t>
            </a:r>
            <a:endParaRPr sz="1800" dirty="0">
              <a:solidFill>
                <a:srgbClr val="38761D"/>
              </a:solidFill>
              <a:highlight>
                <a:schemeClr val="dk1"/>
              </a:highlight>
            </a:endParaRPr>
          </a:p>
        </p:txBody>
      </p:sp>
      <p:grpSp>
        <p:nvGrpSpPr>
          <p:cNvPr id="238" name="Google Shape;238;p24"/>
          <p:cNvGrpSpPr/>
          <p:nvPr/>
        </p:nvGrpSpPr>
        <p:grpSpPr>
          <a:xfrm>
            <a:off x="1923956" y="1189155"/>
            <a:ext cx="8344078" cy="3018487"/>
            <a:chOff x="1585200" y="1285768"/>
            <a:chExt cx="9021600" cy="3263582"/>
          </a:xfrm>
        </p:grpSpPr>
        <p:grpSp>
          <p:nvGrpSpPr>
            <p:cNvPr id="239" name="Google Shape;239;p24"/>
            <p:cNvGrpSpPr/>
            <p:nvPr/>
          </p:nvGrpSpPr>
          <p:grpSpPr>
            <a:xfrm>
              <a:off x="1585200" y="1285768"/>
              <a:ext cx="9021600" cy="3263582"/>
              <a:chOff x="1585200" y="1343718"/>
              <a:chExt cx="9021600" cy="3263582"/>
            </a:xfrm>
          </p:grpSpPr>
          <p:sp>
            <p:nvSpPr>
              <p:cNvPr id="240" name="Google Shape;240;p24"/>
              <p:cNvSpPr/>
              <p:nvPr/>
            </p:nvSpPr>
            <p:spPr>
              <a:xfrm>
                <a:off x="1585200" y="1400600"/>
                <a:ext cx="9021600" cy="32067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1" name="Google Shape;241;p24" descr="Equipment, ethernet, network, office, switch icon"/>
              <p:cNvPicPr preferRelativeResize="0"/>
              <p:nvPr/>
            </p:nvPicPr>
            <p:blipFill rotWithShape="1">
              <a:blip r:embed="rId3">
                <a:alphaModFix/>
              </a:blip>
              <a:srcRect t="20078" b="19571"/>
              <a:stretch/>
            </p:blipFill>
            <p:spPr>
              <a:xfrm>
                <a:off x="3483951" y="2708337"/>
                <a:ext cx="979651" cy="59122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42" name="Google Shape;242;p24"/>
              <p:cNvCxnSpPr>
                <a:stCxn id="241" idx="3"/>
                <a:endCxn id="243" idx="1"/>
              </p:cNvCxnSpPr>
              <p:nvPr/>
            </p:nvCxnSpPr>
            <p:spPr>
              <a:xfrm>
                <a:off x="4463602" y="3003950"/>
                <a:ext cx="11163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4" name="Google Shape;244;p24"/>
              <p:cNvCxnSpPr>
                <a:stCxn id="245" idx="3"/>
              </p:cNvCxnSpPr>
              <p:nvPr/>
            </p:nvCxnSpPr>
            <p:spPr>
              <a:xfrm>
                <a:off x="8655652" y="3003950"/>
                <a:ext cx="8403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243" name="Google Shape;243;p24" descr="Equipment, ethernet, network, office, switch icon"/>
              <p:cNvPicPr preferRelativeResize="0"/>
              <p:nvPr/>
            </p:nvPicPr>
            <p:blipFill rotWithShape="1">
              <a:blip r:embed="rId3">
                <a:alphaModFix/>
              </a:blip>
              <a:srcRect t="20078" b="19571"/>
              <a:stretch/>
            </p:blipFill>
            <p:spPr>
              <a:xfrm>
                <a:off x="5579976" y="2708337"/>
                <a:ext cx="979651" cy="591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24" descr="Equipment, ethernet, network, office, switch icon"/>
              <p:cNvPicPr preferRelativeResize="0"/>
              <p:nvPr/>
            </p:nvPicPr>
            <p:blipFill rotWithShape="1">
              <a:blip r:embed="rId3">
                <a:alphaModFix/>
              </a:blip>
              <a:srcRect t="20078" b="19571"/>
              <a:stretch/>
            </p:blipFill>
            <p:spPr>
              <a:xfrm>
                <a:off x="5579976" y="1625912"/>
                <a:ext cx="979651" cy="591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24" descr="Equipment, ethernet, network, office, switch icon"/>
              <p:cNvPicPr preferRelativeResize="0"/>
              <p:nvPr/>
            </p:nvPicPr>
            <p:blipFill rotWithShape="1">
              <a:blip r:embed="rId3">
                <a:alphaModFix/>
              </a:blip>
              <a:srcRect t="20078" b="19571"/>
              <a:stretch/>
            </p:blipFill>
            <p:spPr>
              <a:xfrm>
                <a:off x="5579976" y="3876512"/>
                <a:ext cx="979651" cy="591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" name="Google Shape;245;p24" descr="Equipment, ethernet, network, office, switch icon"/>
              <p:cNvPicPr preferRelativeResize="0"/>
              <p:nvPr/>
            </p:nvPicPr>
            <p:blipFill rotWithShape="1">
              <a:blip r:embed="rId3">
                <a:alphaModFix/>
              </a:blip>
              <a:srcRect t="20078" b="19571"/>
              <a:stretch/>
            </p:blipFill>
            <p:spPr>
              <a:xfrm>
                <a:off x="7676001" y="2708337"/>
                <a:ext cx="979651" cy="59122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48" name="Google Shape;248;p24"/>
              <p:cNvCxnSpPr>
                <a:stCxn id="243" idx="3"/>
                <a:endCxn id="245" idx="1"/>
              </p:cNvCxnSpPr>
              <p:nvPr/>
            </p:nvCxnSpPr>
            <p:spPr>
              <a:xfrm>
                <a:off x="6559627" y="3003950"/>
                <a:ext cx="11163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9" name="Google Shape;249;p24"/>
              <p:cNvCxnSpPr>
                <a:endCxn id="241" idx="1"/>
              </p:cNvCxnSpPr>
              <p:nvPr/>
            </p:nvCxnSpPr>
            <p:spPr>
              <a:xfrm rot="10800000" flipH="1">
                <a:off x="2628351" y="3003950"/>
                <a:ext cx="855600" cy="9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250" name="Google Shape;250;p24"/>
              <p:cNvGrpSpPr/>
              <p:nvPr/>
            </p:nvGrpSpPr>
            <p:grpSpPr>
              <a:xfrm>
                <a:off x="9215956" y="2253453"/>
                <a:ext cx="1351233" cy="1494907"/>
                <a:chOff x="1405912" y="1778471"/>
                <a:chExt cx="2324102" cy="2571219"/>
              </a:xfrm>
            </p:grpSpPr>
            <p:pic>
              <p:nvPicPr>
                <p:cNvPr id="251" name="Google Shape;251;p24" descr="Computer, desktop computer, device, gadget, imac, monitor, pc icon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05911" y="1909524"/>
                  <a:ext cx="2324102" cy="23241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2" name="Google Shape;252;p24"/>
                <p:cNvSpPr txBox="1"/>
                <p:nvPr/>
              </p:nvSpPr>
              <p:spPr>
                <a:xfrm>
                  <a:off x="2124572" y="3691490"/>
                  <a:ext cx="886800" cy="65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700">
                      <a:solidFill>
                        <a:schemeClr val="lt1"/>
                      </a:solidFill>
                      <a:latin typeface="Libre Franklin"/>
                      <a:ea typeface="Libre Franklin"/>
                      <a:cs typeface="Libre Franklin"/>
                      <a:sym typeface="Libre Franklin"/>
                    </a:rPr>
                    <a:t>H2</a:t>
                  </a:r>
                  <a:endParaRPr sz="1700">
                    <a:solidFill>
                      <a:schemeClr val="lt1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253" name="Google Shape;253;p24"/>
                <p:cNvSpPr/>
                <p:nvPr/>
              </p:nvSpPr>
              <p:spPr>
                <a:xfrm>
                  <a:off x="1584069" y="1778471"/>
                  <a:ext cx="1972500" cy="43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ibre Franklin"/>
                      <a:ea typeface="Libre Franklin"/>
                      <a:cs typeface="Libre Franklin"/>
                      <a:sym typeface="Libre Franklin"/>
                    </a:rPr>
                    <a:t>10.0.0.2</a:t>
                  </a:r>
                  <a:endParaRPr sz="1800">
                    <a:solidFill>
                      <a:schemeClr val="lt1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cxnSp>
            <p:nvCxnSpPr>
              <p:cNvPr id="254" name="Google Shape;254;p24"/>
              <p:cNvCxnSpPr>
                <a:stCxn id="241" idx="0"/>
                <a:endCxn id="246" idx="1"/>
              </p:cNvCxnSpPr>
              <p:nvPr/>
            </p:nvCxnSpPr>
            <p:spPr>
              <a:xfrm rot="10800000" flipH="1">
                <a:off x="3973777" y="1921437"/>
                <a:ext cx="1606200" cy="786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5" name="Google Shape;255;p24"/>
              <p:cNvCxnSpPr>
                <a:stCxn id="245" idx="0"/>
                <a:endCxn id="246" idx="3"/>
              </p:cNvCxnSpPr>
              <p:nvPr/>
            </p:nvCxnSpPr>
            <p:spPr>
              <a:xfrm rot="10800000">
                <a:off x="6559627" y="1921437"/>
                <a:ext cx="1606200" cy="786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6" name="Google Shape;256;p24"/>
              <p:cNvCxnSpPr>
                <a:stCxn id="247" idx="3"/>
                <a:endCxn id="245" idx="2"/>
              </p:cNvCxnSpPr>
              <p:nvPr/>
            </p:nvCxnSpPr>
            <p:spPr>
              <a:xfrm rot="10800000" flipH="1">
                <a:off x="6559627" y="3299425"/>
                <a:ext cx="1606200" cy="8727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7" name="Google Shape;257;p24"/>
              <p:cNvCxnSpPr>
                <a:stCxn id="241" idx="2"/>
                <a:endCxn id="247" idx="1"/>
              </p:cNvCxnSpPr>
              <p:nvPr/>
            </p:nvCxnSpPr>
            <p:spPr>
              <a:xfrm>
                <a:off x="3973777" y="3299563"/>
                <a:ext cx="1606200" cy="8727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258" name="Google Shape;258;p24"/>
              <p:cNvGrpSpPr/>
              <p:nvPr/>
            </p:nvGrpSpPr>
            <p:grpSpPr>
              <a:xfrm>
                <a:off x="1638895" y="2251757"/>
                <a:ext cx="1351233" cy="1494907"/>
                <a:chOff x="1405912" y="1778471"/>
                <a:chExt cx="2324102" cy="2571219"/>
              </a:xfrm>
            </p:grpSpPr>
            <p:pic>
              <p:nvPicPr>
                <p:cNvPr id="259" name="Google Shape;259;p24" descr="Computer, desktop computer, device, gadget, imac, monitor, pc icon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05911" y="1909524"/>
                  <a:ext cx="2324102" cy="23241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0" name="Google Shape;260;p24"/>
                <p:cNvSpPr txBox="1"/>
                <p:nvPr/>
              </p:nvSpPr>
              <p:spPr>
                <a:xfrm>
                  <a:off x="2124572" y="3691490"/>
                  <a:ext cx="886800" cy="65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700">
                      <a:solidFill>
                        <a:schemeClr val="lt1"/>
                      </a:solidFill>
                      <a:latin typeface="Libre Franklin"/>
                      <a:ea typeface="Libre Franklin"/>
                      <a:cs typeface="Libre Franklin"/>
                      <a:sym typeface="Libre Franklin"/>
                    </a:rPr>
                    <a:t>H1</a:t>
                  </a:r>
                  <a:endParaRPr sz="1700">
                    <a:solidFill>
                      <a:schemeClr val="lt1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261" name="Google Shape;261;p24"/>
                <p:cNvSpPr/>
                <p:nvPr/>
              </p:nvSpPr>
              <p:spPr>
                <a:xfrm>
                  <a:off x="1584069" y="1778471"/>
                  <a:ext cx="1972500" cy="43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ibre Franklin"/>
                      <a:ea typeface="Libre Franklin"/>
                      <a:cs typeface="Libre Franklin"/>
                      <a:sym typeface="Libre Franklin"/>
                    </a:rPr>
                    <a:t>10.0.0.1</a:t>
                  </a:r>
                  <a:endParaRPr sz="1800">
                    <a:solidFill>
                      <a:schemeClr val="lt1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sp>
            <p:nvSpPr>
              <p:cNvPr id="262" name="Google Shape;262;p24"/>
              <p:cNvSpPr txBox="1"/>
              <p:nvPr/>
            </p:nvSpPr>
            <p:spPr>
              <a:xfrm>
                <a:off x="3583575" y="2434125"/>
                <a:ext cx="4152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</a:rPr>
                  <a:t>S1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263" name="Google Shape;263;p24"/>
              <p:cNvSpPr txBox="1"/>
              <p:nvPr/>
            </p:nvSpPr>
            <p:spPr>
              <a:xfrm>
                <a:off x="5841127" y="1343718"/>
                <a:ext cx="4152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</a:rPr>
                  <a:t>S2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264" name="Google Shape;264;p24"/>
              <p:cNvSpPr txBox="1"/>
              <p:nvPr/>
            </p:nvSpPr>
            <p:spPr>
              <a:xfrm>
                <a:off x="5841127" y="2424475"/>
                <a:ext cx="4152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</a:rPr>
                  <a:t>S3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265" name="Google Shape;265;p24"/>
              <p:cNvSpPr txBox="1"/>
              <p:nvPr/>
            </p:nvSpPr>
            <p:spPr>
              <a:xfrm>
                <a:off x="5841177" y="3583575"/>
                <a:ext cx="4152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</a:rPr>
                  <a:t>S4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266" name="Google Shape;266;p24"/>
              <p:cNvSpPr txBox="1"/>
              <p:nvPr/>
            </p:nvSpPr>
            <p:spPr>
              <a:xfrm>
                <a:off x="8119625" y="2434125"/>
                <a:ext cx="4152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</a:rPr>
                  <a:t>S5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267" name="Google Shape;267;p24"/>
              <p:cNvSpPr txBox="1"/>
              <p:nvPr/>
            </p:nvSpPr>
            <p:spPr>
              <a:xfrm>
                <a:off x="3157500" y="2694916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68" name="Google Shape;268;p24"/>
              <p:cNvSpPr txBox="1"/>
              <p:nvPr/>
            </p:nvSpPr>
            <p:spPr>
              <a:xfrm>
                <a:off x="4385013" y="2694916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3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69" name="Google Shape;269;p24"/>
              <p:cNvSpPr txBox="1"/>
              <p:nvPr/>
            </p:nvSpPr>
            <p:spPr>
              <a:xfrm>
                <a:off x="3998763" y="2231291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2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0" name="Google Shape;270;p24"/>
              <p:cNvSpPr txBox="1"/>
              <p:nvPr/>
            </p:nvSpPr>
            <p:spPr>
              <a:xfrm>
                <a:off x="3751601" y="3225616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4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1" name="Google Shape;271;p24"/>
              <p:cNvSpPr txBox="1"/>
              <p:nvPr/>
            </p:nvSpPr>
            <p:spPr>
              <a:xfrm>
                <a:off x="5262663" y="2694916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2" name="Google Shape;272;p24"/>
              <p:cNvSpPr txBox="1"/>
              <p:nvPr/>
            </p:nvSpPr>
            <p:spPr>
              <a:xfrm>
                <a:off x="6460417" y="2704575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2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3" name="Google Shape;273;p24"/>
              <p:cNvSpPr txBox="1"/>
              <p:nvPr/>
            </p:nvSpPr>
            <p:spPr>
              <a:xfrm>
                <a:off x="5242238" y="1506841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4" name="Google Shape;274;p24"/>
              <p:cNvSpPr txBox="1"/>
              <p:nvPr/>
            </p:nvSpPr>
            <p:spPr>
              <a:xfrm>
                <a:off x="6439992" y="1516500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2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5" name="Google Shape;275;p24"/>
              <p:cNvSpPr txBox="1"/>
              <p:nvPr/>
            </p:nvSpPr>
            <p:spPr>
              <a:xfrm>
                <a:off x="5289513" y="3715153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6" name="Google Shape;276;p24"/>
              <p:cNvSpPr txBox="1"/>
              <p:nvPr/>
            </p:nvSpPr>
            <p:spPr>
              <a:xfrm>
                <a:off x="6487267" y="3724813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2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7" name="Google Shape;277;p24"/>
              <p:cNvSpPr txBox="1"/>
              <p:nvPr/>
            </p:nvSpPr>
            <p:spPr>
              <a:xfrm>
                <a:off x="7328013" y="2694911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3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8" name="Google Shape;278;p24"/>
              <p:cNvSpPr txBox="1"/>
              <p:nvPr/>
            </p:nvSpPr>
            <p:spPr>
              <a:xfrm>
                <a:off x="7803574" y="2289241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2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79" name="Google Shape;279;p24"/>
              <p:cNvSpPr txBox="1"/>
              <p:nvPr/>
            </p:nvSpPr>
            <p:spPr>
              <a:xfrm>
                <a:off x="7885140" y="3295941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4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80" name="Google Shape;280;p24"/>
              <p:cNvSpPr txBox="1"/>
              <p:nvPr/>
            </p:nvSpPr>
            <p:spPr>
              <a:xfrm>
                <a:off x="8538725" y="2694916"/>
                <a:ext cx="415200" cy="43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chemeClr val="lt1"/>
                    </a:solidFill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81" name="Google Shape;281;p24"/>
            <p:cNvSpPr/>
            <p:nvPr/>
          </p:nvSpPr>
          <p:spPr>
            <a:xfrm>
              <a:off x="2839800" y="1486000"/>
              <a:ext cx="6587690" cy="1390825"/>
            </a:xfrm>
            <a:custGeom>
              <a:avLst/>
              <a:gdLst/>
              <a:ahLst/>
              <a:cxnLst/>
              <a:rect l="l" t="t" r="r" b="b"/>
              <a:pathLst>
                <a:path w="264274" h="55633" extrusionOk="0">
                  <a:moveTo>
                    <a:pt x="0" y="52993"/>
                  </a:moveTo>
                  <a:cubicBezTo>
                    <a:pt x="3735" y="52993"/>
                    <a:pt x="13072" y="55827"/>
                    <a:pt x="22409" y="52993"/>
                  </a:cubicBezTo>
                  <a:cubicBezTo>
                    <a:pt x="31746" y="50160"/>
                    <a:pt x="42114" y="43848"/>
                    <a:pt x="56023" y="35992"/>
                  </a:cubicBezTo>
                  <a:cubicBezTo>
                    <a:pt x="69932" y="28136"/>
                    <a:pt x="93629" y="11845"/>
                    <a:pt x="105864" y="5856"/>
                  </a:cubicBezTo>
                  <a:cubicBezTo>
                    <a:pt x="118099" y="-133"/>
                    <a:pt x="121705" y="-69"/>
                    <a:pt x="129432" y="60"/>
                  </a:cubicBezTo>
                  <a:cubicBezTo>
                    <a:pt x="137159" y="189"/>
                    <a:pt x="139285" y="383"/>
                    <a:pt x="152228" y="6629"/>
                  </a:cubicBezTo>
                  <a:cubicBezTo>
                    <a:pt x="165171" y="12875"/>
                    <a:pt x="195759" y="31356"/>
                    <a:pt x="207092" y="37538"/>
                  </a:cubicBezTo>
                  <a:cubicBezTo>
                    <a:pt x="218425" y="43720"/>
                    <a:pt x="215334" y="40887"/>
                    <a:pt x="220228" y="43720"/>
                  </a:cubicBezTo>
                  <a:cubicBezTo>
                    <a:pt x="225122" y="46553"/>
                    <a:pt x="229115" y="52606"/>
                    <a:pt x="236456" y="54538"/>
                  </a:cubicBezTo>
                  <a:cubicBezTo>
                    <a:pt x="243797" y="56470"/>
                    <a:pt x="259638" y="55182"/>
                    <a:pt x="264274" y="55311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2907400" y="3117217"/>
              <a:ext cx="6519925" cy="22550"/>
            </a:xfrm>
            <a:custGeom>
              <a:avLst/>
              <a:gdLst/>
              <a:ahLst/>
              <a:cxnLst/>
              <a:rect l="l" t="t" r="r" b="b"/>
              <a:pathLst>
                <a:path w="260797" h="902" extrusionOk="0">
                  <a:moveTo>
                    <a:pt x="0" y="451"/>
                  </a:moveTo>
                  <a:cubicBezTo>
                    <a:pt x="17644" y="515"/>
                    <a:pt x="74376" y="902"/>
                    <a:pt x="105865" y="837"/>
                  </a:cubicBezTo>
                  <a:cubicBezTo>
                    <a:pt x="137354" y="773"/>
                    <a:pt x="163111" y="128"/>
                    <a:pt x="188933" y="64"/>
                  </a:cubicBezTo>
                  <a:cubicBezTo>
                    <a:pt x="214755" y="0"/>
                    <a:pt x="248820" y="387"/>
                    <a:pt x="260797" y="451"/>
                  </a:cubicBezTo>
                </a:path>
              </a:pathLst>
            </a:cu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2810825" y="3299427"/>
              <a:ext cx="6568225" cy="1178250"/>
            </a:xfrm>
            <a:custGeom>
              <a:avLst/>
              <a:gdLst/>
              <a:ahLst/>
              <a:cxnLst/>
              <a:rect l="l" t="t" r="r" b="b"/>
              <a:pathLst>
                <a:path w="262729" h="47130" extrusionOk="0">
                  <a:moveTo>
                    <a:pt x="0" y="847"/>
                  </a:moveTo>
                  <a:cubicBezTo>
                    <a:pt x="5989" y="783"/>
                    <a:pt x="27496" y="-698"/>
                    <a:pt x="35932" y="461"/>
                  </a:cubicBezTo>
                  <a:cubicBezTo>
                    <a:pt x="44368" y="1620"/>
                    <a:pt x="38315" y="912"/>
                    <a:pt x="50614" y="7802"/>
                  </a:cubicBezTo>
                  <a:cubicBezTo>
                    <a:pt x="62913" y="14692"/>
                    <a:pt x="96012" y="35363"/>
                    <a:pt x="109728" y="41802"/>
                  </a:cubicBezTo>
                  <a:cubicBezTo>
                    <a:pt x="123444" y="48241"/>
                    <a:pt x="125118" y="46309"/>
                    <a:pt x="132910" y="46438"/>
                  </a:cubicBezTo>
                  <a:cubicBezTo>
                    <a:pt x="140702" y="46567"/>
                    <a:pt x="142762" y="48950"/>
                    <a:pt x="156478" y="42575"/>
                  </a:cubicBezTo>
                  <a:cubicBezTo>
                    <a:pt x="170194" y="36200"/>
                    <a:pt x="197498" y="14563"/>
                    <a:pt x="215206" y="8188"/>
                  </a:cubicBezTo>
                  <a:cubicBezTo>
                    <a:pt x="232915" y="1813"/>
                    <a:pt x="254809" y="4968"/>
                    <a:pt x="262729" y="4324"/>
                  </a:cubicBezTo>
                </a:path>
              </a:pathLst>
            </a:cu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08EE5B7-9E59-4461-56B4-5A9F5A424D28}"/>
              </a:ext>
            </a:extLst>
          </p:cNvPr>
          <p:cNvSpPr/>
          <p:nvPr/>
        </p:nvSpPr>
        <p:spPr>
          <a:xfrm>
            <a:off x="7853082" y="3135086"/>
            <a:ext cx="157296" cy="802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6BB9BB-FF84-62E9-2697-E3DEA4D18E20}"/>
              </a:ext>
            </a:extLst>
          </p:cNvPr>
          <p:cNvSpPr/>
          <p:nvPr/>
        </p:nvSpPr>
        <p:spPr>
          <a:xfrm>
            <a:off x="8505945" y="2517911"/>
            <a:ext cx="157296" cy="802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8D33C33-A1FA-E216-6CFA-7EB942224ADD}"/>
              </a:ext>
            </a:extLst>
          </p:cNvPr>
          <p:cNvSpPr txBox="1"/>
          <p:nvPr/>
        </p:nvSpPr>
        <p:spPr>
          <a:xfrm>
            <a:off x="7814156" y="3037696"/>
            <a:ext cx="322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3920EE-A7EA-619A-FEAF-15045048ABB4}"/>
              </a:ext>
            </a:extLst>
          </p:cNvPr>
          <p:cNvSpPr txBox="1"/>
          <p:nvPr/>
        </p:nvSpPr>
        <p:spPr>
          <a:xfrm>
            <a:off x="8414102" y="2474477"/>
            <a:ext cx="322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 - IPv4 Routing</a:t>
            </a:r>
            <a:endParaRPr/>
          </a:p>
        </p:txBody>
      </p:sp>
      <p:sp>
        <p:nvSpPr>
          <p:cNvPr id="290" name="Google Shape;290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lvl="0" indent="-358140">
              <a:buSzPct val="100000"/>
              <a:buAutoNum type="arabicPeriod"/>
            </a:pPr>
            <a:r>
              <a:rPr lang="zh-TW" altLang="en-US" dirty="0"/>
              <a:t>啟用環境</a:t>
            </a:r>
            <a:r>
              <a:rPr lang="en-US" altLang="zh-TW" dirty="0"/>
              <a:t>: </a:t>
            </a:r>
            <a:r>
              <a:rPr lang="en-US" altLang="zh-TW" dirty="0" err="1"/>
              <a:t>sudo</a:t>
            </a:r>
            <a:r>
              <a:rPr lang="en-US" altLang="zh-TW" dirty="0"/>
              <a:t> python3 ./Homework.py </a:t>
            </a:r>
          </a:p>
          <a:p>
            <a:pPr lvl="0" indent="-358140">
              <a:buSzPct val="100000"/>
              <a:buAutoNum type="arabicPeriod"/>
            </a:pPr>
            <a:r>
              <a:rPr lang="zh-TW" altLang="en-US" dirty="0"/>
              <a:t>編寫路由規則 （</a:t>
            </a:r>
            <a:r>
              <a:rPr lang="en-US" altLang="zh-TW" dirty="0"/>
              <a:t>Flow entries)</a:t>
            </a:r>
          </a:p>
          <a:p>
            <a:pPr lvl="0" indent="-358140">
              <a:buSzPct val="100000"/>
              <a:buAutoNum type="arabicPeriod"/>
            </a:pPr>
            <a:r>
              <a:rPr lang="zh-TW" altLang="en-US" dirty="0"/>
              <a:t>於</a:t>
            </a:r>
            <a:r>
              <a:rPr lang="en-US" altLang="zh-TW" dirty="0" err="1"/>
              <a:t>Mininet</a:t>
            </a:r>
            <a:r>
              <a:rPr lang="en-US" altLang="zh-TW" dirty="0"/>
              <a:t> </a:t>
            </a:r>
            <a:r>
              <a:rPr lang="zh-TW" altLang="en-US" dirty="0"/>
              <a:t>使用</a:t>
            </a:r>
            <a:r>
              <a:rPr lang="en-US" altLang="zh-TW" dirty="0" err="1"/>
              <a:t>xterm</a:t>
            </a:r>
            <a:r>
              <a:rPr lang="en-US" altLang="zh-TW" dirty="0"/>
              <a:t> h1 </a:t>
            </a:r>
            <a:r>
              <a:rPr lang="zh-TW" altLang="en-US" dirty="0"/>
              <a:t>打開</a:t>
            </a:r>
            <a:r>
              <a:rPr lang="en-US" altLang="zh-TW" dirty="0"/>
              <a:t>Host </a:t>
            </a:r>
            <a:r>
              <a:rPr lang="zh-TW" altLang="en-US" dirty="0"/>
              <a:t>之終端機 </a:t>
            </a:r>
          </a:p>
          <a:p>
            <a:pPr indent="-358140">
              <a:buSzPct val="100000"/>
              <a:buFont typeface="Arial"/>
              <a:buAutoNum type="arabicPeriod"/>
            </a:pPr>
            <a:r>
              <a:rPr lang="zh-TW" altLang="en-US" dirty="0"/>
              <a:t>在</a:t>
            </a:r>
            <a:r>
              <a:rPr lang="en-US" altLang="zh-TW" dirty="0"/>
              <a:t>h1</a:t>
            </a:r>
            <a:r>
              <a:rPr lang="zh-TW" altLang="en-US" dirty="0"/>
              <a:t>的終端機上執行</a:t>
            </a:r>
            <a:r>
              <a:rPr lang="en-US" altLang="zh-TW" dirty="0" err="1"/>
              <a:t>iperf</a:t>
            </a:r>
            <a:r>
              <a:rPr lang="zh-TW" altLang="en-US" dirty="0"/>
              <a:t> 進行測試（</a:t>
            </a:r>
            <a:r>
              <a:rPr lang="en-US" altLang="zh-TW" dirty="0"/>
              <a:t>UDP</a:t>
            </a:r>
            <a:r>
              <a:rPr lang="zh-TW" altLang="en-US" dirty="0"/>
              <a:t>發送速率需設定為</a:t>
            </a:r>
            <a:r>
              <a:rPr lang="en-US" altLang="zh-TW" dirty="0"/>
              <a:t>60Mbps)</a:t>
            </a:r>
          </a:p>
          <a:p>
            <a:pPr lvl="0" indent="-358140">
              <a:buSzPct val="100000"/>
              <a:buAutoNum type="arabicPeriod"/>
            </a:pPr>
            <a:r>
              <a:rPr lang="zh-TW" altLang="en-US" dirty="0"/>
              <a:t>測試後</a:t>
            </a:r>
            <a:r>
              <a:rPr lang="en-US" altLang="zh-TW" dirty="0" err="1"/>
              <a:t>iperf</a:t>
            </a:r>
            <a:r>
              <a:rPr lang="zh-TW" altLang="en-US" dirty="0"/>
              <a:t> 畫面與交換機</a:t>
            </a:r>
            <a:r>
              <a:rPr lang="en-US" altLang="zh-TW" dirty="0"/>
              <a:t>flow</a:t>
            </a:r>
            <a:r>
              <a:rPr lang="zh-TW" altLang="en-US"/>
              <a:t> 畫面</a:t>
            </a:r>
            <a:r>
              <a:rPr lang="zh-TW" altLang="en-US" dirty="0"/>
              <a:t>擷圖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dirty="0"/>
              <a:t>Hints: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dirty="0" err="1"/>
              <a:t>編寫規則時要比對封包上ip_protocol</a:t>
            </a:r>
            <a:r>
              <a:rPr lang="en-US" dirty="0"/>
              <a:t> </a:t>
            </a:r>
            <a:r>
              <a:rPr lang="en-US" dirty="0" err="1"/>
              <a:t>後才能比對UDP封包內容</a:t>
            </a:r>
            <a:endParaRPr dirty="0"/>
          </a:p>
        </p:txBody>
      </p:sp>
      <p:sp>
        <p:nvSpPr>
          <p:cNvPr id="291" name="Google Shape;291;p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0346BE-C14E-442A-9C60-EE1B3C35F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975" y="3669908"/>
            <a:ext cx="9242050" cy="1083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657</Words>
  <Application>Microsoft Office PowerPoint</Application>
  <PresentationFormat>寬螢幕</PresentationFormat>
  <Paragraphs>92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Times New Roman</vt:lpstr>
      <vt:lpstr>Arial</vt:lpstr>
      <vt:lpstr>Libre Franklin</vt:lpstr>
      <vt:lpstr>Simple Dark</vt:lpstr>
      <vt:lpstr>Open VSwitch</vt:lpstr>
      <vt:lpstr>Meter</vt:lpstr>
      <vt:lpstr>Meter</vt:lpstr>
      <vt:lpstr>Meter</vt:lpstr>
      <vt:lpstr>Groups</vt:lpstr>
      <vt:lpstr>Groups</vt:lpstr>
      <vt:lpstr>Experiment: Meter demo</vt:lpstr>
      <vt:lpstr>Experiment: Learn MAC Address</vt:lpstr>
      <vt:lpstr>Controller</vt:lpstr>
      <vt:lpstr>Homework - IPv4 Routing with Meter Rate limiter</vt:lpstr>
      <vt:lpstr>Homework - IPv4 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VSwitch</dc:title>
  <cp:lastModifiedBy>jerry Wu</cp:lastModifiedBy>
  <cp:revision>17</cp:revision>
  <dcterms:modified xsi:type="dcterms:W3CDTF">2026-03-25T00:24:36Z</dcterms:modified>
</cp:coreProperties>
</file>